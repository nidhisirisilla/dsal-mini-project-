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17F55-527B-44FE-B820-F96B3FB54EF7}" v="2" dt="2026-10-16T06:29:19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isirisilla@yahoo.com" userId="6b8969463855ccde" providerId="LiveId" clId="{02988868-BC8C-4CAD-9DEB-DFD693A7356A}"/>
    <pc:docChg chg="undo custSel modSld">
      <pc:chgData name="nidhisirisilla@yahoo.com" userId="6b8969463855ccde" providerId="LiveId" clId="{02988868-BC8C-4CAD-9DEB-DFD693A7356A}" dt="2026-10-23T07:30:54.828" v="75" actId="20577"/>
      <pc:docMkLst>
        <pc:docMk/>
      </pc:docMkLst>
      <pc:sldChg chg="addSp delSp modSp mod">
        <pc:chgData name="nidhisirisilla@yahoo.com" userId="6b8969463855ccde" providerId="LiveId" clId="{02988868-BC8C-4CAD-9DEB-DFD693A7356A}" dt="2026-10-23T07:30:54.828" v="75" actId="20577"/>
        <pc:sldMkLst>
          <pc:docMk/>
          <pc:sldMk cId="0" sldId="256"/>
        </pc:sldMkLst>
        <pc:spChg chg="mod">
          <ac:chgData name="nidhisirisilla@yahoo.com" userId="6b8969463855ccde" providerId="LiveId" clId="{02988868-BC8C-4CAD-9DEB-DFD693A7356A}" dt="2026-10-23T07:30:54.828" v="75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nidhisirisilla@yahoo.com" userId="6b8969463855ccde" providerId="LiveId" clId="{02988868-BC8C-4CAD-9DEB-DFD693A7356A}" dt="2026-10-16T06:29:43.177" v="20" actId="20577"/>
        <pc:sldMkLst>
          <pc:docMk/>
          <pc:sldMk cId="0" sldId="257"/>
        </pc:sldMkLst>
        <pc:spChg chg="mod">
          <ac:chgData name="nidhisirisilla@yahoo.com" userId="6b8969463855ccde" providerId="LiveId" clId="{02988868-BC8C-4CAD-9DEB-DFD693A7356A}" dt="2026-10-16T06:29:43.177" v="20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nidhisirisilla@yahoo.com" userId="6b8969463855ccde" providerId="LiveId" clId="{02988868-BC8C-4CAD-9DEB-DFD693A7356A}" dt="2026-10-16T06:32:07.280" v="62" actId="20577"/>
        <pc:sldMkLst>
          <pc:docMk/>
          <pc:sldMk cId="0" sldId="258"/>
        </pc:sldMkLst>
        <pc:spChg chg="mod">
          <ac:chgData name="nidhisirisilla@yahoo.com" userId="6b8969463855ccde" providerId="LiveId" clId="{02988868-BC8C-4CAD-9DEB-DFD693A7356A}" dt="2026-10-16T06:32:07.280" v="62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nidhisirisilla@yahoo.com" userId="6b8969463855ccde" providerId="LiveId" clId="{02988868-BC8C-4CAD-9DEB-DFD693A7356A}" dt="2026-10-16T06:31:54.457" v="44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idhisirisilla@yahoo.com" userId="6b8969463855ccde" providerId="LiveId" clId="{02988868-BC8C-4CAD-9DEB-DFD693A7356A}" dt="2026-10-16T06:31:58.399" v="50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nidhisirisilla@yahoo.com" userId="6b8969463855ccde" providerId="LiveId" clId="{02988868-BC8C-4CAD-9DEB-DFD693A7356A}" dt="2026-10-16T06:32:00.551" v="55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nidhisirisilla@yahoo.com" userId="6b8969463855ccde" providerId="LiveId" clId="{02988868-BC8C-4CAD-9DEB-DFD693A7356A}" dt="2026-10-16T06:32:02.803" v="60" actId="20577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nidhisirisilla@yahoo.com" userId="6b8969463855ccde" providerId="LiveId" clId="{02988868-BC8C-4CAD-9DEB-DFD693A7356A}" dt="2026-10-16T06:29:08.756" v="3" actId="27636"/>
        <pc:sldMkLst>
          <pc:docMk/>
          <pc:sldMk cId="0" sldId="267"/>
        </pc:sldMkLst>
        <pc:spChg chg="mod">
          <ac:chgData name="nidhisirisilla@yahoo.com" userId="6b8969463855ccde" providerId="LiveId" clId="{02988868-BC8C-4CAD-9DEB-DFD693A7356A}" dt="2026-10-16T06:29:08.756" v="3" actId="276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nidhisirisilla@yahoo.com" userId="6b8969463855ccde" providerId="LiveId" clId="{02988868-BC8C-4CAD-9DEB-DFD693A7356A}" dt="2026-10-16T06:29:08.752" v="2" actId="276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nidhisirisilla@yahoo.com" userId="6b8969463855ccde" providerId="LiveId" clId="{02988868-BC8C-4CAD-9DEB-DFD693A7356A}" dt="2026-10-16T06:29:08.748" v="1" actId="27636"/>
          <ac:spMkLst>
            <pc:docMk/>
            <pc:sldMk cId="0" sldId="26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62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console app where students raise maintenance requests and an admin handles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27"/>
            <a:ext cx="10566400" cy="413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27"/>
            <a:ext cx="10566400" cy="413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>
                <a:solidFill>
                  <a:srgbClr val="F09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LAB </a:t>
            </a:r>
            <a:r>
              <a:rPr lang="en-US" sz="1400" b="1" kern="0" spc="100" dirty="0">
                <a:solidFill>
                  <a:srgbClr val="F09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MINI PROJECT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744993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Hostel Maintenance Request Manager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548393"/>
            <a:ext cx="10883392" cy="70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B9C2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walkthrough of hostel_maintenance.c: how one C program applies arrays, searching, sorting, recursion, stacks, queues, lists, trees and graphs.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9228"/>
            <a:ext cx="10566400" cy="1889787"/>
          </a:xfrm>
          <a:custGeom>
            <a:avLst/>
            <a:gdLst/>
            <a:ahLst/>
            <a:cxnLst/>
            <a:rect l="l" t="t" r="r" b="b"/>
            <a:pathLst>
              <a:path w="10566400" h="1889787">
                <a:moveTo>
                  <a:pt x="101600" y="0"/>
                </a:moveTo>
                <a:lnTo>
                  <a:pt x="10464800" y="0"/>
                </a:lnTo>
                <a:arcTo wR="101600" hR="101600" stAng="16200000" swAng="5400000"/>
                <a:lnTo>
                  <a:pt x="10566400" y="1788187"/>
                </a:lnTo>
                <a:arcTo wR="101600" hR="101600" stAng="0" swAng="5400000"/>
                <a:lnTo>
                  <a:pt x="101600" y="1889787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solidFill>
            <a:srgbClr val="14202B"/>
          </a:solidFill>
          <a:ln/>
        </p:spPr>
        <p:txBody>
          <a:bodyPr wrap="square" lIns="419100" tIns="0" rIns="61849" bIns="0" rtlCol="0" anchor="t">
            <a:normAutofit/>
          </a:bodyPr>
          <a:lstStyle/>
          <a:p>
            <a:pPr marL="0" indent="0" algn="l">
              <a:lnSpc>
                <a:spcPts val="2755"/>
              </a:lnSpc>
              <a:buNone/>
            </a:pPr>
            <a:endParaRPr lang="en-US" sz="1900" dirty="0">
              <a:solidFill>
                <a:srgbClr val="F6F3E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2755"/>
              </a:lnSpc>
              <a:buNone/>
            </a:pPr>
            <a:r>
              <a:rPr lang="en-US" sz="19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console application that registers hostel maintenance requests, serves the most urgent ones first and lets students track them, while applying the data structures and algorithms from the DSA course.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12800" y="1859228"/>
            <a:ext cx="10566400" cy="1889787"/>
          </a:xfrm>
          <a:custGeom>
            <a:avLst/>
            <a:gdLst/>
            <a:ahLst/>
            <a:cxnLst/>
            <a:rect l="l" t="t" r="r" b="b"/>
            <a:pathLst>
              <a:path w="10566400" h="1889787">
                <a:moveTo>
                  <a:pt x="101600" y="1889787"/>
                </a:moveTo>
                <a:lnTo>
                  <a:pt x="101600" y="1889787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38100" hR="101600" stAng="16200000" swAng="-5400000"/>
                <a:lnTo>
                  <a:pt x="63500" y="1788187"/>
                </a:lnTo>
                <a:arcTo wR="38100" hR="101600" stAng="10800000" swAng="-5400000"/>
                <a:close/>
              </a:path>
            </a:pathLst>
          </a:custGeom>
          <a:solidFill>
            <a:srgbClr val="F092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5975" y="3955389"/>
            <a:ext cx="3380317" cy="1883437"/>
          </a:xfrm>
          <a:prstGeom prst="roundRect">
            <a:avLst>
              <a:gd name="adj" fmla="val 52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45633" y="4185047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requests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45633" y="4576167"/>
            <a:ext cx="30086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raised verbally or on paper are easily forgotten.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5842" y="3955389"/>
            <a:ext cx="3380317" cy="1883437"/>
          </a:xfrm>
          <a:prstGeom prst="roundRect">
            <a:avLst>
              <a:gd name="adj" fmla="val 52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35500" y="4185047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35500" y="4576167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burst pipe can wait behind a broken chair when work goes first come, first served.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5709" y="3955389"/>
            <a:ext cx="3380317" cy="1883437"/>
          </a:xfrm>
          <a:prstGeom prst="roundRect">
            <a:avLst>
              <a:gd name="adj" fmla="val 52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5367" y="4185047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5367" y="4576167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cannot see whether anyone has picked up their request.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2/12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59228"/>
            <a:ext cx="10566400" cy="694928"/>
          </a:xfrm>
          <a:prstGeom prst="roundRect">
            <a:avLst>
              <a:gd name="adj" fmla="val 12793"/>
            </a:avLst>
          </a:prstGeom>
          <a:solidFill>
            <a:srgbClr val="1D2D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1859228"/>
            <a:ext cx="825500" cy="694928"/>
          </a:xfrm>
          <a:custGeom>
            <a:avLst/>
            <a:gdLst/>
            <a:ahLst/>
            <a:cxnLst/>
            <a:rect l="l" t="t" r="r" b="b"/>
            <a:pathLst>
              <a:path w="825500" h="694928">
                <a:moveTo>
                  <a:pt x="0" y="88900"/>
                </a:moveTo>
                <a:arcTo wR="88900" hR="88900" stAng="10800000" swAng="5400000"/>
                <a:lnTo>
                  <a:pt x="825500" y="0"/>
                </a:lnTo>
                <a:lnTo>
                  <a:pt x="825500" y="694928"/>
                </a:lnTo>
                <a:lnTo>
                  <a:pt x="88900" y="694928"/>
                </a:lnTo>
                <a:arcTo wR="88900" hR="88900" stAng="5400000" swAng="5400000"/>
                <a:close/>
              </a:path>
            </a:pathLst>
          </a:custGeom>
          <a:solidFill>
            <a:srgbClr val="F0925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41500" y="2055549"/>
            <a:ext cx="248539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57700" y="2082867"/>
            <a:ext cx="39878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D5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 request in a register sorted by 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45500" y="2008584"/>
            <a:ext cx="2812415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registerRequest()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removeRequest()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681156"/>
            <a:ext cx="10566400" cy="694994"/>
          </a:xfrm>
          <a:prstGeom prst="roundRect">
            <a:avLst>
              <a:gd name="adj" fmla="val 12791"/>
            </a:avLst>
          </a:prstGeom>
          <a:solidFill>
            <a:srgbClr val="1D2D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12800" y="2681156"/>
            <a:ext cx="825500" cy="694994"/>
          </a:xfrm>
          <a:custGeom>
            <a:avLst/>
            <a:gdLst/>
            <a:ahLst/>
            <a:cxnLst/>
            <a:rect l="l" t="t" r="r" b="b"/>
            <a:pathLst>
              <a:path w="825500" h="694994">
                <a:moveTo>
                  <a:pt x="0" y="88900"/>
                </a:moveTo>
                <a:arcTo wR="88900" hR="88900" stAng="10800000" swAng="5400000"/>
                <a:lnTo>
                  <a:pt x="825500" y="0"/>
                </a:lnTo>
                <a:lnTo>
                  <a:pt x="825500" y="694994"/>
                </a:lnTo>
                <a:lnTo>
                  <a:pt x="88900" y="694994"/>
                </a:lnTo>
                <a:arcTo wR="88900" hR="88900" stAng="5400000" swAng="5400000"/>
                <a:close/>
              </a:path>
            </a:pathLst>
          </a:custGeom>
          <a:solidFill>
            <a:srgbClr val="F0925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41500" y="2877542"/>
            <a:ext cx="248539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sort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57700" y="2780970"/>
            <a:ext cx="38981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D5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requests fast and compare three sorting algorithms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45500" y="2830513"/>
            <a:ext cx="2812415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searchById()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sortMenu()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3503151"/>
            <a:ext cx="10566400" cy="694928"/>
          </a:xfrm>
          <a:prstGeom prst="roundRect">
            <a:avLst>
              <a:gd name="adj" fmla="val 12793"/>
            </a:avLst>
          </a:prstGeom>
          <a:solidFill>
            <a:srgbClr val="1D2D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2800" y="3503151"/>
            <a:ext cx="825500" cy="694928"/>
          </a:xfrm>
          <a:custGeom>
            <a:avLst/>
            <a:gdLst/>
            <a:ahLst/>
            <a:cxnLst/>
            <a:rect l="l" t="t" r="r" b="b"/>
            <a:pathLst>
              <a:path w="825500" h="694928">
                <a:moveTo>
                  <a:pt x="0" y="88900"/>
                </a:moveTo>
                <a:arcTo wR="88900" hR="88900" stAng="10800000" swAng="5400000"/>
                <a:lnTo>
                  <a:pt x="825500" y="0"/>
                </a:lnTo>
                <a:lnTo>
                  <a:pt x="825500" y="694928"/>
                </a:lnTo>
                <a:lnTo>
                  <a:pt x="88900" y="694928"/>
                </a:lnTo>
                <a:arcTo wR="88900" hR="88900" stAng="5400000" swAng="5400000"/>
                <a:close/>
              </a:path>
            </a:pathLst>
          </a:custGeom>
          <a:solidFill>
            <a:srgbClr val="F0925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3 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41500" y="3699470"/>
            <a:ext cx="248539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57700" y="3602965"/>
            <a:ext cx="38981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D5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recursion for counts, urgency score and tree walks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5500" y="3652507"/>
            <a:ext cx="2812415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countStatusRec()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traverse()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325079"/>
            <a:ext cx="10566400" cy="694994"/>
          </a:xfrm>
          <a:prstGeom prst="roundRect">
            <a:avLst>
              <a:gd name="adj" fmla="val 12791"/>
            </a:avLst>
          </a:prstGeom>
          <a:solidFill>
            <a:srgbClr val="1D2D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2800" y="4325079"/>
            <a:ext cx="825500" cy="694994"/>
          </a:xfrm>
          <a:custGeom>
            <a:avLst/>
            <a:gdLst/>
            <a:ahLst/>
            <a:cxnLst/>
            <a:rect l="l" t="t" r="r" b="b"/>
            <a:pathLst>
              <a:path w="825500" h="694994">
                <a:moveTo>
                  <a:pt x="0" y="88900"/>
                </a:moveTo>
                <a:arcTo wR="88900" hR="88900" stAng="10800000" swAng="5400000"/>
                <a:lnTo>
                  <a:pt x="825500" y="0"/>
                </a:lnTo>
                <a:lnTo>
                  <a:pt x="825500" y="694994"/>
                </a:lnTo>
                <a:lnTo>
                  <a:pt x="88900" y="694994"/>
                </a:lnTo>
                <a:arcTo wR="88900" hR="88900" stAng="5400000" swAng="5400000"/>
                <a:close/>
              </a:path>
            </a:pathLst>
          </a:custGeom>
          <a:solidFill>
            <a:srgbClr val="F0925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41500" y="4521465"/>
            <a:ext cx="248539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Stack, queue, list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457700" y="4424893"/>
            <a:ext cx="38981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D5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undo, an urgent-first work queue and a resolved 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45500" y="4474435"/>
            <a:ext cx="2812415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push() cqEnqueue()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showLog()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5147072"/>
            <a:ext cx="10566400" cy="694928"/>
          </a:xfrm>
          <a:prstGeom prst="roundRect">
            <a:avLst>
              <a:gd name="adj" fmla="val 12793"/>
            </a:avLst>
          </a:prstGeom>
          <a:solidFill>
            <a:srgbClr val="1D2D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12800" y="5147072"/>
            <a:ext cx="825500" cy="694928"/>
          </a:xfrm>
          <a:custGeom>
            <a:avLst/>
            <a:gdLst/>
            <a:ahLst/>
            <a:cxnLst/>
            <a:rect l="l" t="t" r="r" b="b"/>
            <a:pathLst>
              <a:path w="825500" h="694928">
                <a:moveTo>
                  <a:pt x="0" y="88900"/>
                </a:moveTo>
                <a:arcTo wR="88900" hR="88900" stAng="10800000" swAng="5400000"/>
                <a:lnTo>
                  <a:pt x="825500" y="0"/>
                </a:lnTo>
                <a:lnTo>
                  <a:pt x="825500" y="694928"/>
                </a:lnTo>
                <a:lnTo>
                  <a:pt x="88900" y="694928"/>
                </a:lnTo>
                <a:arcTo wR="88900" hR="88900" stAng="5400000" swAng="5400000"/>
                <a:close/>
              </a:path>
            </a:pathLst>
          </a:custGeom>
          <a:solidFill>
            <a:srgbClr val="F0925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41500" y="5343393"/>
            <a:ext cx="248539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 and graph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457700" y="5370711"/>
            <a:ext cx="39878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D5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request IDs and plan technician routes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45500" y="5296430"/>
            <a:ext cx="2812415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bstInsert()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bfs() dfs()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3/12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Methodology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03"/>
            <a:ext cx="2482850" cy="3976423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5633" y="2092061"/>
            <a:ext cx="208423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Analyse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5633" y="2483182"/>
            <a:ext cx="208423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roles, the request fields and the Pending, Assigned, Resolved flow.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5633" y="5124053"/>
            <a:ext cx="2023533" cy="485114"/>
          </a:xfrm>
          <a:prstGeom prst="roundRect">
            <a:avLst>
              <a:gd name="adj" fmla="val 13090"/>
            </a:avLst>
          </a:prstGeom>
          <a:solidFill>
            <a:srgbClr val="0E1720"/>
          </a:solidFill>
          <a:ln/>
        </p:spPr>
        <p:txBody>
          <a:bodyPr wrap="square" lIns="133801" tIns="108401" rIns="82239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 struct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8375" y="1862403"/>
            <a:ext cx="2482850" cy="3976423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38033" y="2092061"/>
            <a:ext cx="208423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Design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38033" y="2483182"/>
            <a:ext cx="208423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data structure for each need: array, BST, queue, stack, list, graph.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38033" y="5124053"/>
            <a:ext cx="2023533" cy="485114"/>
          </a:xfrm>
          <a:prstGeom prst="roundRect">
            <a:avLst>
              <a:gd name="adj" fmla="val 13090"/>
            </a:avLst>
          </a:prstGeom>
          <a:solidFill>
            <a:srgbClr val="0E1720"/>
          </a:solidFill>
          <a:ln/>
        </p:spPr>
        <p:txBody>
          <a:bodyPr wrap="square" lIns="133801" tIns="108401" rIns="82239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BST, queue,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0775" y="1862403"/>
            <a:ext cx="2482850" cy="3976423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30433" y="2092061"/>
            <a:ext cx="208423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Implement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30433" y="2483182"/>
            <a:ext cx="208423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 file using only the standard library, with menus run through function pointers.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0433" y="5124053"/>
            <a:ext cx="2023533" cy="485114"/>
          </a:xfrm>
          <a:prstGeom prst="roundRect">
            <a:avLst>
              <a:gd name="adj" fmla="val 13090"/>
            </a:avLst>
          </a:prstGeom>
          <a:solidFill>
            <a:srgbClr val="0E1720"/>
          </a:solidFill>
          <a:ln/>
        </p:spPr>
        <p:txBody>
          <a:bodyPr wrap="square" lIns="133801" tIns="108401" rIns="82239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act[] dispatch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93175" y="1862403"/>
            <a:ext cx="2482850" cy="3976423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22834" y="2092061"/>
            <a:ext cx="208423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Test and analyse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22834" y="2772702"/>
            <a:ext cx="208423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sample data and count steps, comparisons and time for each algorithm.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22834" y="5124053"/>
            <a:ext cx="2023533" cy="485114"/>
          </a:xfrm>
          <a:prstGeom prst="roundRect">
            <a:avLst>
              <a:gd name="adj" fmla="val 13090"/>
            </a:avLst>
          </a:prstGeom>
          <a:solidFill>
            <a:srgbClr val="0E1720"/>
          </a:solidFill>
          <a:ln/>
        </p:spPr>
        <p:txBody>
          <a:bodyPr wrap="square" lIns="133801" tIns="108401" rIns="82239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cmpCount, clock()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4/12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model: the Request register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59229"/>
            <a:ext cx="5435600" cy="3149666"/>
          </a:xfrm>
          <a:prstGeom prst="roundRect">
            <a:avLst>
              <a:gd name="adj" fmla="val 3226"/>
            </a:avLst>
          </a:prstGeom>
          <a:solidFill>
            <a:srgbClr val="0E17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2113229"/>
            <a:ext cx="5075428" cy="31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typedef struct {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6800" y="2406783"/>
            <a:ext cx="5075428" cy="31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id;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66800" y="2700272"/>
            <a:ext cx="5075428" cy="31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char student[40];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6800" y="2993827"/>
            <a:ext cx="5075428" cy="31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char block; int room;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66800" y="3287316"/>
            <a:ext cx="5075428" cy="31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char category[20];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66800" y="3580873"/>
            <a:ext cx="5075428" cy="31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char desc[80];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66800" y="3874362"/>
            <a:ext cx="5075428" cy="31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priority;  // 1 to 3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66800" y="4167916"/>
            <a:ext cx="5075428" cy="31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status;    // 0 to 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66800" y="4461405"/>
            <a:ext cx="5075428" cy="31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 Request;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54775" y="1862404"/>
            <a:ext cx="492125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84434" y="2063090"/>
            <a:ext cx="157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student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1634" y="1948129"/>
            <a:ext cx="281677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 from nextId (starts at 1001) and the student name.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54775" y="2681554"/>
            <a:ext cx="4921250" cy="685866"/>
          </a:xfrm>
          <a:prstGeom prst="roundRect">
            <a:avLst>
              <a:gd name="adj" fmla="val 1249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84434" y="2882240"/>
            <a:ext cx="157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block, room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1634" y="2767279"/>
            <a:ext cx="281677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problem is: block A to E, room 101 to 599.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54775" y="3500769"/>
            <a:ext cx="492125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84434" y="3701455"/>
            <a:ext cx="157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category, desc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1634" y="3586494"/>
            <a:ext cx="281677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six categories plus a short description.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54775" y="4319919"/>
            <a:ext cx="492125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84434" y="4520605"/>
            <a:ext cx="157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priority, status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1634" y="4277057"/>
            <a:ext cx="281677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High, 2 Medium, 3 Low. Status Pending, Assigned or Resolved.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2800" y="5212094"/>
            <a:ext cx="10566400" cy="629907"/>
          </a:xfrm>
          <a:prstGeom prst="roundRect">
            <a:avLst>
              <a:gd name="adj" fmla="val 14113"/>
            </a:avLst>
          </a:prstGeom>
          <a:solidFill>
            <a:srgbClr val="14202B"/>
          </a:solidFill>
          <a:ln/>
        </p:spPr>
        <p:txBody>
          <a:bodyPr wrap="square" lIns="202562" tIns="151762" rIns="0" bIns="126362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requests live in reqs[100], kept sorted by ID. registerRequest() shifts records right to insert in order.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5/12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BST index: ID to array position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04"/>
            <a:ext cx="3380317" cy="3143316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5633" y="2092061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and search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5633" y="2483182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 stores an id and its array index. Search is a loop that counts the nodes it visits.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5633" y="4059833"/>
            <a:ext cx="2921000" cy="716227"/>
          </a:xfrm>
          <a:prstGeom prst="roundRect">
            <a:avLst>
              <a:gd name="adj" fmla="val 8866"/>
            </a:avLst>
          </a:prstGeom>
          <a:solidFill>
            <a:srgbClr val="0E1720"/>
          </a:solidFill>
          <a:ln/>
        </p:spPr>
        <p:txBody>
          <a:bodyPr wrap="square" lIns="133801" tIns="108401" rIns="55315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bstInsert(n, id, idx)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bstSearch(n, id)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42" y="1862404"/>
            <a:ext cx="3380317" cy="3143316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35500" y="2092061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35500" y="2483182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zero, one or two children. With two children it uses the inorder successor.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5500" y="4290947"/>
            <a:ext cx="2921000" cy="485114"/>
          </a:xfrm>
          <a:prstGeom prst="roundRect">
            <a:avLst>
              <a:gd name="adj" fmla="val 13090"/>
            </a:avLst>
          </a:prstGeom>
          <a:solidFill>
            <a:srgbClr val="0E1720"/>
          </a:solidFill>
          <a:ln/>
        </p:spPr>
        <p:txBody>
          <a:bodyPr wrap="square" lIns="133801" tIns="108401" rIns="55315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bstDelete(n, id)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09" y="1862404"/>
            <a:ext cx="3380317" cy="3143316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5367" y="2092061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upkeep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5367" y="2483182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array records shift, every stored position is adjusted so the index stays correct.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5367" y="4290947"/>
            <a:ext cx="2921000" cy="485114"/>
          </a:xfrm>
          <a:prstGeom prst="roundRect">
            <a:avLst>
              <a:gd name="adj" fmla="val 13090"/>
            </a:avLst>
          </a:prstGeom>
          <a:solidFill>
            <a:srgbClr val="0E1720"/>
          </a:solidFill>
          <a:ln/>
        </p:spPr>
        <p:txBody>
          <a:bodyPr wrap="square" lIns="133801" tIns="108401" rIns="55315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shiftIdx(root, from, 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212094"/>
            <a:ext cx="10566400" cy="629907"/>
          </a:xfrm>
          <a:prstGeom prst="roundRect">
            <a:avLst>
              <a:gd name="adj" fmla="val 14113"/>
            </a:avLst>
          </a:prstGeom>
          <a:solidFill>
            <a:srgbClr val="14202B"/>
          </a:solidFill>
          <a:ln/>
        </p:spPr>
        <p:txBody>
          <a:bodyPr wrap="square" lIns="202562" tIns="151762" rIns="0" bIns="126362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by ID takes about O(log n) steps instead of scanning the whole array.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6/12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Circular queue and undo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04"/>
            <a:ext cx="5175250" cy="3976423"/>
          </a:xfrm>
          <a:prstGeom prst="roundRect">
            <a:avLst>
              <a:gd name="adj" fmla="val 2475"/>
            </a:avLst>
          </a:prstGeom>
          <a:solidFill>
            <a:srgbClr val="1D2D3B"/>
          </a:solidFill>
          <a:ln w="6350">
            <a:solidFill>
              <a:srgbClr val="3A4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5633" y="2092061"/>
            <a:ext cx="485741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queue: pending work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5633" y="2483182"/>
            <a:ext cx="4857411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cq[] stores pending request IDs, and front and rear wrap around with the modulo operator. rebuildQueue() refills it by priority, oldest first, and assignNext() dequeues the next job.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5633" y="4892942"/>
            <a:ext cx="4715933" cy="716227"/>
          </a:xfrm>
          <a:prstGeom prst="roundRect">
            <a:avLst>
              <a:gd name="adj" fmla="val 8866"/>
            </a:avLst>
          </a:prstGeom>
          <a:solidFill>
            <a:srgbClr val="0E1720"/>
          </a:solidFill>
          <a:ln/>
        </p:spPr>
        <p:txBody>
          <a:bodyPr wrap="square" lIns="133801" tIns="108401" rIns="1467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cq[cqRear] = id;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cqRear = (cqRear + 1) % CQ_SIZE;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1862404"/>
            <a:ext cx="5175250" cy="3976423"/>
          </a:xfrm>
          <a:prstGeom prst="roundRect">
            <a:avLst>
              <a:gd name="adj" fmla="val 2475"/>
            </a:avLst>
          </a:prstGeom>
          <a:solidFill>
            <a:srgbClr val="1D2D3B"/>
          </a:solidFill>
          <a:ln w="6350">
            <a:solidFill>
              <a:srgbClr val="3A4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30433" y="2092061"/>
            <a:ext cx="485741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undo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30433" y="2483182"/>
            <a:ext cx="485741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submit or cancel pushes an Action holding its type and a copy of the request. undoLast() pops it and reverses it. The stack keeps the last 50 actions.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30433" y="4892942"/>
            <a:ext cx="4715933" cy="716227"/>
          </a:xfrm>
          <a:prstGeom prst="roundRect">
            <a:avLst>
              <a:gd name="adj" fmla="val 8866"/>
            </a:avLst>
          </a:prstGeom>
          <a:solidFill>
            <a:srgbClr val="0E1720"/>
          </a:solidFill>
          <a:ln/>
        </p:spPr>
        <p:txBody>
          <a:bodyPr wrap="square" lIns="133801" tIns="108401" rIns="1467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push(ACT_ADD, r);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pop(&amp;a); // undoLast()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7/12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Searching and sorting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9229"/>
            <a:ext cx="53370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search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5975" y="2294204"/>
            <a:ext cx="5175250" cy="1092597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20233" y="2543969"/>
            <a:ext cx="49097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</a:t>
            </a:r>
            <a:r>
              <a:rPr lang="en-US" sz="17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linearSearchRoom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0233" y="2896989"/>
            <a:ext cx="4909735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every record for a block and room: n comparisons.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520151"/>
            <a:ext cx="5175250" cy="1092663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0233" y="3769984"/>
            <a:ext cx="49097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</a:t>
            </a:r>
            <a:r>
              <a:rPr lang="en-US" sz="17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0233" y="4123004"/>
            <a:ext cx="4909735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Halves the sorted array each step: about log2 n steps.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75" y="4746166"/>
            <a:ext cx="5175250" cy="1092663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20233" y="4995999"/>
            <a:ext cx="49097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 </a:t>
            </a:r>
            <a:r>
              <a:rPr lang="en-US" sz="17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bstSearch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0233" y="5349019"/>
            <a:ext cx="4967817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left or right children by ID and counts visited nodes.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97600" y="1859229"/>
            <a:ext cx="53370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sorts, measured live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00775" y="2294204"/>
            <a:ext cx="5175250" cy="1092597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5033" y="2543969"/>
            <a:ext cx="49097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 </a:t>
            </a:r>
            <a:r>
              <a:rPr lang="en-US" sz="17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insertionSort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5033" y="2896989"/>
            <a:ext cx="4909735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 time, O(1) space. Shifts larger records right.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00775" y="3520151"/>
            <a:ext cx="5175250" cy="1092663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5033" y="3769984"/>
            <a:ext cx="49097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</a:t>
            </a:r>
            <a:r>
              <a:rPr lang="en-US" sz="17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selectionSort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5033" y="4123004"/>
            <a:ext cx="4909735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 time, O(1) space. Picks the minimum each pass.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00775" y="4746166"/>
            <a:ext cx="5175250" cy="1092663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5033" y="4995999"/>
            <a:ext cx="49097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</a:t>
            </a:r>
            <a:r>
              <a:rPr lang="en-US" sz="1700" b="1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mergeSort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5033" y="5349019"/>
            <a:ext cx="4909735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 log n) time, O(n) space. Splits, sorts, merges halves.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8/12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64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Recursion and the resolved log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04"/>
            <a:ext cx="3380317" cy="3976423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5633" y="2092065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helpers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5633" y="2483185"/>
            <a:ext cx="300863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countStatusRec, prioritySumRec and the BST traversals call themselves, each with a clear base case.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5633" y="5124053"/>
            <a:ext cx="2921000" cy="485114"/>
          </a:xfrm>
          <a:prstGeom prst="roundRect">
            <a:avLst>
              <a:gd name="adj" fmla="val 13090"/>
            </a:avLst>
          </a:prstGeom>
          <a:solidFill>
            <a:srgbClr val="0E1720"/>
          </a:solidFill>
          <a:ln/>
        </p:spPr>
        <p:txBody>
          <a:bodyPr wrap="square" lIns="133801" tIns="108401" rIns="55315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countStatusRec(i + 1, 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42" y="1862404"/>
            <a:ext cx="3380317" cy="3976423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35500" y="2092065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 vs loop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35500" y="2483185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urgency score is computed recursively and iteratively, and Statistics shows both results.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5500" y="4892942"/>
            <a:ext cx="2921000" cy="716227"/>
          </a:xfrm>
          <a:prstGeom prst="roundRect">
            <a:avLst>
              <a:gd name="adj" fmla="val 8866"/>
            </a:avLst>
          </a:prstGeom>
          <a:solidFill>
            <a:srgbClr val="0E1720"/>
          </a:solidFill>
          <a:ln/>
        </p:spPr>
        <p:txBody>
          <a:bodyPr wrap="square" lIns="133801" tIns="108401" rIns="55315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prioritySumRec(0)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prioritySumIter()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09" y="1862404"/>
            <a:ext cx="3380317" cy="3976423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5367" y="2092065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 log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5367" y="2483185"/>
            <a:ext cx="300863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showLog() builds a singly linked list of resolved requests with head and tail pointers, prints it, then frees each node.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5367" y="4892942"/>
            <a:ext cx="2921000" cy="716227"/>
          </a:xfrm>
          <a:prstGeom prst="roundRect">
            <a:avLst>
              <a:gd name="adj" fmla="val 8866"/>
            </a:avLst>
          </a:prstGeom>
          <a:solidFill>
            <a:srgbClr val="0E1720"/>
          </a:solidFill>
          <a:ln/>
        </p:spPr>
        <p:txBody>
          <a:bodyPr wrap="square" lIns="133801" tIns="108401" rIns="55315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tail-&gt;next = n;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tail = n;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3639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9/12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Hostel map: BFS and DFS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59229"/>
            <a:ext cx="5181600" cy="3982773"/>
          </a:xfrm>
          <a:prstGeom prst="roundRect">
            <a:avLst>
              <a:gd name="adj" fmla="val 2551"/>
            </a:avLst>
          </a:prstGeom>
          <a:solidFill>
            <a:srgbClr val="1D2D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Hostel map graph: Office connects to A and B, A to C, B to D, C and D to 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100" y="2009118"/>
            <a:ext cx="4953000" cy="368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00775" y="1862404"/>
            <a:ext cx="5175250" cy="1883437"/>
          </a:xfrm>
          <a:prstGeom prst="roundRect">
            <a:avLst>
              <a:gd name="adj" fmla="val 5226"/>
            </a:avLst>
          </a:prstGeom>
          <a:solidFill>
            <a:srgbClr val="1D2D3B"/>
          </a:solidFill>
          <a:ln w="6350">
            <a:solidFill>
              <a:srgbClr val="3A4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30433" y="2092065"/>
            <a:ext cx="4857411" cy="263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1562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from the Office</a:t>
            </a:r>
            <a:endParaRPr lang="en-US" sz="1562" dirty="0"/>
          </a:p>
        </p:txBody>
      </p:sp>
      <p:sp>
        <p:nvSpPr>
          <p:cNvPr id="8" name="Text 5"/>
          <p:cNvSpPr/>
          <p:nvPr/>
        </p:nvSpPr>
        <p:spPr>
          <a:xfrm>
            <a:off x="6430433" y="2431324"/>
            <a:ext cx="4857411" cy="46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238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blocks nearest first, with hop counts and open requests per block.</a:t>
            </a:r>
            <a:endParaRPr lang="en-US" sz="1238" dirty="0"/>
          </a:p>
        </p:txBody>
      </p:sp>
      <p:sp>
        <p:nvSpPr>
          <p:cNvPr id="9" name="Shape 6"/>
          <p:cNvSpPr/>
          <p:nvPr/>
        </p:nvSpPr>
        <p:spPr>
          <a:xfrm>
            <a:off x="6430433" y="3072476"/>
            <a:ext cx="4715933" cy="443706"/>
          </a:xfrm>
          <a:prstGeom prst="roundRect">
            <a:avLst>
              <a:gd name="adj" fmla="val 14311"/>
            </a:avLst>
          </a:prstGeom>
          <a:solidFill>
            <a:srgbClr val="0E17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582833" y="3199476"/>
            <a:ext cx="4543467" cy="215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89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bfs(0);</a:t>
            </a:r>
            <a:endParaRPr lang="en-US" sz="1089" dirty="0"/>
          </a:p>
        </p:txBody>
      </p:sp>
      <p:sp>
        <p:nvSpPr>
          <p:cNvPr id="11" name="Shape 8"/>
          <p:cNvSpPr/>
          <p:nvPr/>
        </p:nvSpPr>
        <p:spPr>
          <a:xfrm>
            <a:off x="6200775" y="3955393"/>
            <a:ext cx="5175250" cy="1883437"/>
          </a:xfrm>
          <a:prstGeom prst="roundRect">
            <a:avLst>
              <a:gd name="adj" fmla="val 5226"/>
            </a:avLst>
          </a:prstGeom>
          <a:solidFill>
            <a:srgbClr val="1D2D3B"/>
          </a:solidFill>
          <a:ln w="6350">
            <a:solidFill>
              <a:srgbClr val="3A4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30433" y="4185047"/>
            <a:ext cx="4857411" cy="263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1562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 patrol route</a:t>
            </a:r>
            <a:endParaRPr lang="en-US" sz="1562" dirty="0"/>
          </a:p>
        </p:txBody>
      </p:sp>
      <p:sp>
        <p:nvSpPr>
          <p:cNvPr id="13" name="Text 10"/>
          <p:cNvSpPr/>
          <p:nvPr/>
        </p:nvSpPr>
        <p:spPr>
          <a:xfrm>
            <a:off x="6430433" y="4524313"/>
            <a:ext cx="4857411" cy="46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238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recursive walk that prints the route with open requests in brackets.</a:t>
            </a:r>
            <a:endParaRPr lang="en-US" sz="1238" dirty="0"/>
          </a:p>
        </p:txBody>
      </p:sp>
      <p:sp>
        <p:nvSpPr>
          <p:cNvPr id="14" name="Shape 11"/>
          <p:cNvSpPr/>
          <p:nvPr/>
        </p:nvSpPr>
        <p:spPr>
          <a:xfrm>
            <a:off x="6430433" y="5165465"/>
            <a:ext cx="4715933" cy="443706"/>
          </a:xfrm>
          <a:prstGeom prst="roundRect">
            <a:avLst>
              <a:gd name="adj" fmla="val 14311"/>
            </a:avLst>
          </a:prstGeom>
          <a:solidFill>
            <a:srgbClr val="0E17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82833" y="5292465"/>
            <a:ext cx="4543467" cy="215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89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dfs(0, vis);</a:t>
            </a:r>
            <a:endParaRPr lang="en-US" sz="1089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37411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10/12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Outcomes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04"/>
            <a:ext cx="3380317" cy="3143316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5633" y="2092065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application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5633" y="2483185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 program with 6 student options and 13 admin options, ready to run on sample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42" y="1862404"/>
            <a:ext cx="3380317" cy="3143316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35500" y="2092065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outcomes used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35500" y="2483185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 to CO5 each power a real feature instead of an isolated demo.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09" y="1862404"/>
            <a:ext cx="3380317" cy="3143316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5367" y="2092065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analysis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5367" y="2483185"/>
            <a:ext cx="300863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show steps taken and sorts show comparisons and time, so O(n²) and O(n log n) can be compared.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5212097"/>
            <a:ext cx="10566400" cy="629907"/>
          </a:xfrm>
          <a:prstGeom prst="roundRect">
            <a:avLst>
              <a:gd name="adj" fmla="val 14113"/>
            </a:avLst>
          </a:prstGeom>
          <a:solidFill>
            <a:srgbClr val="14202B"/>
          </a:solidFill>
          <a:ln/>
        </p:spPr>
        <p:txBody>
          <a:bodyPr wrap="square" lIns="202562" tIns="151762" rIns="0" bIns="126362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urgent requests are served first, and every request can be tracked from Pending to Resolved.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37275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11/12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Source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59229"/>
            <a:ext cx="10566400" cy="1432586"/>
          </a:xfrm>
          <a:prstGeom prst="roundRect">
            <a:avLst>
              <a:gd name="adj" fmla="val 7092"/>
            </a:avLst>
          </a:prstGeom>
          <a:solidFill>
            <a:srgbClr val="1D2D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800" y="1859229"/>
            <a:ext cx="10566400" cy="1432586"/>
          </a:xfrm>
          <a:custGeom>
            <a:avLst/>
            <a:gdLst/>
            <a:ahLst/>
            <a:cxnLst/>
            <a:rect l="l" t="t" r="r" b="b"/>
            <a:pathLst>
              <a:path w="10566400" h="1432586">
                <a:moveTo>
                  <a:pt x="101600" y="1432586"/>
                </a:moveTo>
                <a:lnTo>
                  <a:pt x="101600" y="1432586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38100" hR="101600" stAng="16200000" swAng="-5400000"/>
                <a:lnTo>
                  <a:pt x="63500" y="1330986"/>
                </a:lnTo>
                <a:arcTo wR="38100" hR="101600" stAng="10800000" swAng="-5400000"/>
                <a:close/>
              </a:path>
            </a:pathLst>
          </a:custGeom>
          <a:solidFill>
            <a:srgbClr val="F092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31900" y="2138629"/>
            <a:ext cx="1008545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B9C2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1900" y="2514538"/>
            <a:ext cx="10085451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F092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https://github.com/[username]/[repo-name]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15975" y="3498193"/>
            <a:ext cx="5175250" cy="1426236"/>
          </a:xfrm>
          <a:prstGeom prst="roundRect">
            <a:avLst>
              <a:gd name="adj" fmla="val 6901"/>
            </a:avLst>
          </a:prstGeom>
          <a:solidFill>
            <a:srgbClr val="1D2D3B"/>
          </a:solidFill>
          <a:ln w="6350">
            <a:solidFill>
              <a:srgbClr val="3A4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45633" y="3727847"/>
            <a:ext cx="4857411" cy="141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run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045633" y="3945471"/>
            <a:ext cx="4857411" cy="132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with gcc, then start the program.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45633" y="4255560"/>
            <a:ext cx="4715933" cy="439208"/>
          </a:xfrm>
          <a:prstGeom prst="roundRect">
            <a:avLst>
              <a:gd name="adj" fmla="val 14458"/>
            </a:avLst>
          </a:prstGeom>
          <a:solidFill>
            <a:srgbClr val="0E17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98033" y="4382560"/>
            <a:ext cx="4543467" cy="210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gcc hostel_maintenance.c</a:t>
            </a:r>
            <a:endParaRPr lang="en-US" sz="780" dirty="0"/>
          </a:p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-o hostel &amp;&amp; ./hostel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200775" y="3498193"/>
            <a:ext cx="5175250" cy="1426236"/>
          </a:xfrm>
          <a:prstGeom prst="roundRect">
            <a:avLst>
              <a:gd name="adj" fmla="val 6901"/>
            </a:avLst>
          </a:prstGeom>
          <a:solidFill>
            <a:srgbClr val="1D2D3B"/>
          </a:solidFill>
          <a:ln w="6350">
            <a:solidFill>
              <a:srgbClr val="3A4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30433" y="3727847"/>
            <a:ext cx="4857411" cy="294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3"/>
              </a:lnSpc>
              <a:buNone/>
            </a:pPr>
            <a:r>
              <a:rPr lang="en-US" sz="1769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</a:t>
            </a:r>
            <a:endParaRPr lang="en-US" sz="1769" dirty="0"/>
          </a:p>
        </p:txBody>
      </p:sp>
      <p:sp>
        <p:nvSpPr>
          <p:cNvPr id="15" name="Text 13"/>
          <p:cNvSpPr/>
          <p:nvPr/>
        </p:nvSpPr>
        <p:spPr>
          <a:xfrm>
            <a:off x="6430433" y="4098131"/>
            <a:ext cx="4857411" cy="520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2"/>
              </a:lnSpc>
              <a:buNone/>
            </a:pPr>
            <a:r>
              <a:rPr lang="en-US" sz="1402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any name, a block A to E and a room. Admin password: admin123.</a:t>
            </a:r>
            <a:endParaRPr lang="en-US" sz="1402" dirty="0"/>
          </a:p>
        </p:txBody>
      </p:sp>
      <p:sp>
        <p:nvSpPr>
          <p:cNvPr id="16" name="Text 14"/>
          <p:cNvSpPr/>
          <p:nvPr/>
        </p:nvSpPr>
        <p:spPr>
          <a:xfrm>
            <a:off x="812800" y="5130800"/>
            <a:ext cx="10566400" cy="711200"/>
          </a:xfrm>
          <a:prstGeom prst="roundRect">
            <a:avLst>
              <a:gd name="adj" fmla="val 12500"/>
            </a:avLst>
          </a:prstGeom>
          <a:solidFill>
            <a:srgbClr val="F0925A"/>
          </a:solidFill>
          <a:ln/>
        </p:spPr>
        <p:txBody>
          <a:bodyPr wrap="square" lIns="202562" tIns="151762" rIns="0" bIns="12636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Questions?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37411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Maintenance Request Manager · 12/12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tel Maintenance Request Manager – Code Walkthrough">
  <a:themeElements>
    <a:clrScheme name="Hostel Maintenance Request Manager – Code Walkthrough">
      <a:dk1>
        <a:srgbClr val="14202B"/>
      </a:dk1>
      <a:lt1>
        <a:srgbClr val="F6F3EC"/>
      </a:lt1>
      <a:dk2>
        <a:srgbClr val="4D555B"/>
      </a:dk2>
      <a:lt2>
        <a:srgbClr val="DFDED9"/>
      </a:lt2>
      <a:accent1>
        <a:srgbClr val="F0925A"/>
      </a:accent1>
      <a:accent2>
        <a:srgbClr val="A64D17"/>
      </a:accent2>
      <a:accent3>
        <a:srgbClr val="E07A3F"/>
      </a:accent3>
      <a:accent4>
        <a:srgbClr val="D5DBE0"/>
      </a:accent4>
      <a:accent5>
        <a:srgbClr val="6A7179"/>
      </a:accent5>
      <a:accent6>
        <a:srgbClr val="9AA5AF"/>
      </a:accent6>
      <a:hlink>
        <a:srgbClr val="0563C1"/>
      </a:hlink>
      <a:folHlink>
        <a:srgbClr val="954F72"/>
      </a:folHlink>
    </a:clrScheme>
    <a:fontScheme name="Hostel Maintenance Request Manager – Code Walkthroug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1210</Words>
  <Application>Microsoft Office PowerPoint</Application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Georgia</vt:lpstr>
      <vt:lpstr>Hostel Maintenance Request Manager – Code Walkthrough</vt:lpstr>
      <vt:lpstr>Hostel Maintenance Request Manager</vt:lpstr>
      <vt:lpstr>Problem statement</vt:lpstr>
      <vt:lpstr>Objectives</vt:lpstr>
      <vt:lpstr>Methodology</vt:lpstr>
      <vt:lpstr>Data model: the Request register</vt:lpstr>
      <vt:lpstr>BST index: ID to array position</vt:lpstr>
      <vt:lpstr>Circular queue and undo stack</vt:lpstr>
      <vt:lpstr>Searching and sorting</vt:lpstr>
      <vt:lpstr>Recursion and the resolved log</vt:lpstr>
      <vt:lpstr>Hostel map: BFS and DFS</vt:lpstr>
      <vt:lpstr>Outcomes</vt:lpstr>
      <vt:lpstr>Source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Maintenance Request Manager – Code Walkthrough</dc:title>
  <dc:subject/>
  <dc:creator/>
  <cp:lastModifiedBy>nidhisirisilla@yahoo.com</cp:lastModifiedBy>
  <cp:revision>2</cp:revision>
  <dcterms:created xsi:type="dcterms:W3CDTF">2026-10-15T21:14:17Z</dcterms:created>
  <dcterms:modified xsi:type="dcterms:W3CDTF">2026-10-23T09:30:41Z</dcterms:modified>
</cp:coreProperties>
</file>